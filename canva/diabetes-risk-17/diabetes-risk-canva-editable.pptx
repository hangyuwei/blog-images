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930384" cy="132405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30384" cy="1572768"/>
          </a:xfrm>
          <a:prstGeom prst="rect">
            <a:avLst/>
          </a:prstGeom>
          <a:solidFill>
            <a:srgbClr val="E2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93192"/>
            <a:ext cx="9015984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100" b="1">
                <a:solidFill>
                  <a:srgbClr val="09579A"/>
                </a:solidFill>
                <a:latin typeface="PingFang SC"/>
              </a:defRPr>
            </a:pPr>
            <a:r>
              <a:t>成人糖尿病高危人群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87552"/>
            <a:ext cx="84673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07BA1"/>
                </a:solidFill>
                <a:latin typeface="PingFang SC"/>
              </a:defRPr>
            </a:pPr>
            <a:r>
              <a:t>符合以下任一因素，建议主动进行糖尿病筛查与健康管理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" y="1815084"/>
            <a:ext cx="1444752" cy="2907792"/>
          </a:xfrm>
          <a:prstGeom prst="roundRect">
            <a:avLst/>
          </a:prstGeom>
          <a:solidFill>
            <a:srgbClr val="DD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10896" y="1764792"/>
            <a:ext cx="1444752" cy="2907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" y="1810512"/>
            <a:ext cx="1353312" cy="1353312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384048" y="1837944"/>
            <a:ext cx="310896" cy="310896"/>
          </a:xfrm>
          <a:prstGeom prst="ellipse">
            <a:avLst/>
          </a:prstGeom>
          <a:solidFill>
            <a:srgbClr val="176FAD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06524" y="1815084"/>
            <a:ext cx="1444752" cy="2907792"/>
          </a:xfrm>
          <a:prstGeom prst="roundRect">
            <a:avLst/>
          </a:prstGeom>
          <a:solidFill>
            <a:srgbClr val="DD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883664" y="1764792"/>
            <a:ext cx="1444752" cy="2907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9384" y="1810512"/>
            <a:ext cx="1353312" cy="1353312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1956816" y="1837944"/>
            <a:ext cx="310896" cy="310896"/>
          </a:xfrm>
          <a:prstGeom prst="ellipse">
            <a:avLst/>
          </a:prstGeom>
          <a:solidFill>
            <a:srgbClr val="176FAD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9292" y="1815084"/>
            <a:ext cx="1444752" cy="2907792"/>
          </a:xfrm>
          <a:prstGeom prst="roundRect">
            <a:avLst/>
          </a:prstGeom>
          <a:solidFill>
            <a:srgbClr val="DD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56432" y="1764792"/>
            <a:ext cx="1444752" cy="2907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2152" y="1810512"/>
            <a:ext cx="1353312" cy="1353312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3529584" y="1837944"/>
            <a:ext cx="310896" cy="310896"/>
          </a:xfrm>
          <a:prstGeom prst="ellipse">
            <a:avLst/>
          </a:prstGeom>
          <a:solidFill>
            <a:srgbClr val="176FAD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52060" y="1815084"/>
            <a:ext cx="1444752" cy="2907792"/>
          </a:xfrm>
          <a:prstGeom prst="roundRect">
            <a:avLst/>
          </a:prstGeom>
          <a:solidFill>
            <a:srgbClr val="DD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0" y="1764792"/>
            <a:ext cx="1444752" cy="2907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1810512"/>
            <a:ext cx="1353312" cy="1353312"/>
          </a:xfrm>
          <a:prstGeom prst="rect">
            <a:avLst/>
          </a:prstGeom>
        </p:spPr>
      </p:pic>
      <p:sp>
        <p:nvSpPr>
          <p:cNvPr id="20" name="Oval 19"/>
          <p:cNvSpPr/>
          <p:nvPr/>
        </p:nvSpPr>
        <p:spPr>
          <a:xfrm>
            <a:off x="5102352" y="1837944"/>
            <a:ext cx="310896" cy="310896"/>
          </a:xfrm>
          <a:prstGeom prst="ellipse">
            <a:avLst/>
          </a:prstGeom>
          <a:solidFill>
            <a:srgbClr val="176FAD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24828" y="1815084"/>
            <a:ext cx="1444752" cy="2907792"/>
          </a:xfrm>
          <a:prstGeom prst="roundRect">
            <a:avLst/>
          </a:prstGeom>
          <a:solidFill>
            <a:srgbClr val="DD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601968" y="1764792"/>
            <a:ext cx="1444752" cy="2907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0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7688" y="1810512"/>
            <a:ext cx="1353312" cy="1353312"/>
          </a:xfrm>
          <a:prstGeom prst="rect">
            <a:avLst/>
          </a:prstGeom>
        </p:spPr>
      </p:pic>
      <p:sp>
        <p:nvSpPr>
          <p:cNvPr id="24" name="Oval 23"/>
          <p:cNvSpPr/>
          <p:nvPr/>
        </p:nvSpPr>
        <p:spPr>
          <a:xfrm>
            <a:off x="6675120" y="1837944"/>
            <a:ext cx="310896" cy="310896"/>
          </a:xfrm>
          <a:prstGeom prst="ellipse">
            <a:avLst/>
          </a:prstGeom>
          <a:solidFill>
            <a:srgbClr val="176FAD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97596" y="1815084"/>
            <a:ext cx="1444752" cy="2907792"/>
          </a:xfrm>
          <a:prstGeom prst="roundRect">
            <a:avLst/>
          </a:prstGeom>
          <a:solidFill>
            <a:srgbClr val="DD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174736" y="1764792"/>
            <a:ext cx="1444752" cy="2907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0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0456" y="1810512"/>
            <a:ext cx="1353312" cy="1353312"/>
          </a:xfrm>
          <a:prstGeom prst="rect">
            <a:avLst/>
          </a:prstGeom>
        </p:spPr>
      </p:pic>
      <p:sp>
        <p:nvSpPr>
          <p:cNvPr id="28" name="Oval 27"/>
          <p:cNvSpPr/>
          <p:nvPr/>
        </p:nvSpPr>
        <p:spPr>
          <a:xfrm>
            <a:off x="8247888" y="1837944"/>
            <a:ext cx="310896" cy="310896"/>
          </a:xfrm>
          <a:prstGeom prst="ellipse">
            <a:avLst/>
          </a:prstGeom>
          <a:solidFill>
            <a:srgbClr val="176FAD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3756" y="4878324"/>
            <a:ext cx="1444752" cy="2907792"/>
          </a:xfrm>
          <a:prstGeom prst="roundRect">
            <a:avLst/>
          </a:prstGeom>
          <a:solidFill>
            <a:srgbClr val="DD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10896" y="4828032"/>
            <a:ext cx="1444752" cy="2907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0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6616" y="4873752"/>
            <a:ext cx="1353312" cy="1353312"/>
          </a:xfrm>
          <a:prstGeom prst="rect">
            <a:avLst/>
          </a:prstGeom>
        </p:spPr>
      </p:pic>
      <p:sp>
        <p:nvSpPr>
          <p:cNvPr id="32" name="Oval 31"/>
          <p:cNvSpPr/>
          <p:nvPr/>
        </p:nvSpPr>
        <p:spPr>
          <a:xfrm>
            <a:off x="384048" y="4901184"/>
            <a:ext cx="310896" cy="310896"/>
          </a:xfrm>
          <a:prstGeom prst="ellipse">
            <a:avLst/>
          </a:prstGeom>
          <a:solidFill>
            <a:srgbClr val="176FAD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906524" y="4878324"/>
            <a:ext cx="1444752" cy="2907792"/>
          </a:xfrm>
          <a:prstGeom prst="roundRect">
            <a:avLst/>
          </a:prstGeom>
          <a:solidFill>
            <a:srgbClr val="DD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883664" y="4828032"/>
            <a:ext cx="1444752" cy="2907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0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29384" y="4873752"/>
            <a:ext cx="1353312" cy="1353312"/>
          </a:xfrm>
          <a:prstGeom prst="rect">
            <a:avLst/>
          </a:prstGeom>
        </p:spPr>
      </p:pic>
      <p:sp>
        <p:nvSpPr>
          <p:cNvPr id="36" name="Oval 35"/>
          <p:cNvSpPr/>
          <p:nvPr/>
        </p:nvSpPr>
        <p:spPr>
          <a:xfrm>
            <a:off x="1956816" y="4901184"/>
            <a:ext cx="310896" cy="310896"/>
          </a:xfrm>
          <a:prstGeom prst="ellipse">
            <a:avLst/>
          </a:prstGeom>
          <a:solidFill>
            <a:srgbClr val="176FAD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79292" y="4878324"/>
            <a:ext cx="1444752" cy="2907792"/>
          </a:xfrm>
          <a:prstGeom prst="roundRect">
            <a:avLst/>
          </a:prstGeom>
          <a:solidFill>
            <a:srgbClr val="DD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456432" y="4828032"/>
            <a:ext cx="1444752" cy="2907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0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02152" y="4873752"/>
            <a:ext cx="1353312" cy="1353312"/>
          </a:xfrm>
          <a:prstGeom prst="rect">
            <a:avLst/>
          </a:prstGeom>
        </p:spPr>
      </p:pic>
      <p:sp>
        <p:nvSpPr>
          <p:cNvPr id="40" name="Oval 39"/>
          <p:cNvSpPr/>
          <p:nvPr/>
        </p:nvSpPr>
        <p:spPr>
          <a:xfrm>
            <a:off x="3529584" y="4901184"/>
            <a:ext cx="310896" cy="310896"/>
          </a:xfrm>
          <a:prstGeom prst="ellipse">
            <a:avLst/>
          </a:prstGeom>
          <a:solidFill>
            <a:srgbClr val="176FAD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52060" y="4878324"/>
            <a:ext cx="1444752" cy="2907792"/>
          </a:xfrm>
          <a:prstGeom prst="roundRect">
            <a:avLst/>
          </a:prstGeom>
          <a:solidFill>
            <a:srgbClr val="DD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029200" y="4828032"/>
            <a:ext cx="1444752" cy="2907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1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74920" y="4873752"/>
            <a:ext cx="1353312" cy="1353312"/>
          </a:xfrm>
          <a:prstGeom prst="rect">
            <a:avLst/>
          </a:prstGeom>
        </p:spPr>
      </p:pic>
      <p:sp>
        <p:nvSpPr>
          <p:cNvPr id="44" name="Oval 43"/>
          <p:cNvSpPr/>
          <p:nvPr/>
        </p:nvSpPr>
        <p:spPr>
          <a:xfrm>
            <a:off x="5102352" y="4901184"/>
            <a:ext cx="310896" cy="310896"/>
          </a:xfrm>
          <a:prstGeom prst="ellipse">
            <a:avLst/>
          </a:prstGeom>
          <a:solidFill>
            <a:srgbClr val="176FAD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24828" y="4878324"/>
            <a:ext cx="1444752" cy="2907792"/>
          </a:xfrm>
          <a:prstGeom prst="roundRect">
            <a:avLst/>
          </a:prstGeom>
          <a:solidFill>
            <a:srgbClr val="DD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601968" y="4828032"/>
            <a:ext cx="1444752" cy="2907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1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47688" y="4873752"/>
            <a:ext cx="1353312" cy="1353312"/>
          </a:xfrm>
          <a:prstGeom prst="rect">
            <a:avLst/>
          </a:prstGeom>
        </p:spPr>
      </p:pic>
      <p:sp>
        <p:nvSpPr>
          <p:cNvPr id="48" name="Oval 47"/>
          <p:cNvSpPr/>
          <p:nvPr/>
        </p:nvSpPr>
        <p:spPr>
          <a:xfrm>
            <a:off x="6675120" y="4901184"/>
            <a:ext cx="310896" cy="310896"/>
          </a:xfrm>
          <a:prstGeom prst="ellipse">
            <a:avLst/>
          </a:prstGeom>
          <a:solidFill>
            <a:srgbClr val="176FAD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197596" y="4878324"/>
            <a:ext cx="1444752" cy="2907792"/>
          </a:xfrm>
          <a:prstGeom prst="roundRect">
            <a:avLst/>
          </a:prstGeom>
          <a:solidFill>
            <a:srgbClr val="DD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174736" y="4828032"/>
            <a:ext cx="1444752" cy="2907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1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20456" y="4873752"/>
            <a:ext cx="1353312" cy="1353312"/>
          </a:xfrm>
          <a:prstGeom prst="rect">
            <a:avLst/>
          </a:prstGeom>
        </p:spPr>
      </p:pic>
      <p:sp>
        <p:nvSpPr>
          <p:cNvPr id="52" name="Oval 51"/>
          <p:cNvSpPr/>
          <p:nvPr/>
        </p:nvSpPr>
        <p:spPr>
          <a:xfrm>
            <a:off x="8247888" y="4901184"/>
            <a:ext cx="310896" cy="310896"/>
          </a:xfrm>
          <a:prstGeom prst="ellipse">
            <a:avLst/>
          </a:prstGeom>
          <a:solidFill>
            <a:srgbClr val="176FAD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120140" y="7941564"/>
            <a:ext cx="1444752" cy="2907792"/>
          </a:xfrm>
          <a:prstGeom prst="roundRect">
            <a:avLst/>
          </a:prstGeom>
          <a:solidFill>
            <a:srgbClr val="DD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1097280" y="7891272"/>
            <a:ext cx="1444752" cy="2907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13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43000" y="7936992"/>
            <a:ext cx="1353312" cy="1353312"/>
          </a:xfrm>
          <a:prstGeom prst="rect">
            <a:avLst/>
          </a:prstGeom>
        </p:spPr>
      </p:pic>
      <p:sp>
        <p:nvSpPr>
          <p:cNvPr id="56" name="Oval 55"/>
          <p:cNvSpPr/>
          <p:nvPr/>
        </p:nvSpPr>
        <p:spPr>
          <a:xfrm>
            <a:off x="1170432" y="7964424"/>
            <a:ext cx="310896" cy="310896"/>
          </a:xfrm>
          <a:prstGeom prst="ellipse">
            <a:avLst/>
          </a:prstGeom>
          <a:solidFill>
            <a:srgbClr val="176FAD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692908" y="7941564"/>
            <a:ext cx="1444752" cy="2907792"/>
          </a:xfrm>
          <a:prstGeom prst="roundRect">
            <a:avLst/>
          </a:prstGeom>
          <a:solidFill>
            <a:srgbClr val="DD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2670048" y="7891272"/>
            <a:ext cx="1444752" cy="2907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14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715768" y="7936992"/>
            <a:ext cx="1353312" cy="1353312"/>
          </a:xfrm>
          <a:prstGeom prst="rect">
            <a:avLst/>
          </a:prstGeom>
        </p:spPr>
      </p:pic>
      <p:sp>
        <p:nvSpPr>
          <p:cNvPr id="60" name="Oval 59"/>
          <p:cNvSpPr/>
          <p:nvPr/>
        </p:nvSpPr>
        <p:spPr>
          <a:xfrm>
            <a:off x="2743200" y="7964424"/>
            <a:ext cx="310896" cy="310896"/>
          </a:xfrm>
          <a:prstGeom prst="ellipse">
            <a:avLst/>
          </a:prstGeom>
          <a:solidFill>
            <a:srgbClr val="176FAD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265676" y="7941564"/>
            <a:ext cx="1444752" cy="2907792"/>
          </a:xfrm>
          <a:prstGeom prst="roundRect">
            <a:avLst/>
          </a:prstGeom>
          <a:solidFill>
            <a:srgbClr val="DD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4242816" y="7891272"/>
            <a:ext cx="1444752" cy="2907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15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288536" y="7936992"/>
            <a:ext cx="1353312" cy="1353312"/>
          </a:xfrm>
          <a:prstGeom prst="rect">
            <a:avLst/>
          </a:prstGeom>
        </p:spPr>
      </p:pic>
      <p:sp>
        <p:nvSpPr>
          <p:cNvPr id="64" name="Oval 63"/>
          <p:cNvSpPr/>
          <p:nvPr/>
        </p:nvSpPr>
        <p:spPr>
          <a:xfrm>
            <a:off x="4315968" y="7964424"/>
            <a:ext cx="310896" cy="310896"/>
          </a:xfrm>
          <a:prstGeom prst="ellipse">
            <a:avLst/>
          </a:prstGeom>
          <a:solidFill>
            <a:srgbClr val="176FAD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838444" y="7941564"/>
            <a:ext cx="1444752" cy="2907792"/>
          </a:xfrm>
          <a:prstGeom prst="roundRect">
            <a:avLst/>
          </a:prstGeom>
          <a:solidFill>
            <a:srgbClr val="DD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5815584" y="7891272"/>
            <a:ext cx="1444752" cy="2907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16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861304" y="7936992"/>
            <a:ext cx="1353312" cy="1353312"/>
          </a:xfrm>
          <a:prstGeom prst="rect">
            <a:avLst/>
          </a:prstGeom>
        </p:spPr>
      </p:pic>
      <p:sp>
        <p:nvSpPr>
          <p:cNvPr id="68" name="Oval 67"/>
          <p:cNvSpPr/>
          <p:nvPr/>
        </p:nvSpPr>
        <p:spPr>
          <a:xfrm>
            <a:off x="5888736" y="7964424"/>
            <a:ext cx="310896" cy="310896"/>
          </a:xfrm>
          <a:prstGeom prst="ellipse">
            <a:avLst/>
          </a:prstGeom>
          <a:solidFill>
            <a:srgbClr val="176FAD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411212" y="7941564"/>
            <a:ext cx="1444752" cy="2907792"/>
          </a:xfrm>
          <a:prstGeom prst="roundRect">
            <a:avLst/>
          </a:prstGeom>
          <a:solidFill>
            <a:srgbClr val="DD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7388352" y="7891272"/>
            <a:ext cx="1444752" cy="2907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17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434072" y="7936992"/>
            <a:ext cx="1353312" cy="1353312"/>
          </a:xfrm>
          <a:prstGeom prst="rect">
            <a:avLst/>
          </a:prstGeom>
        </p:spPr>
      </p:pic>
      <p:sp>
        <p:nvSpPr>
          <p:cNvPr id="72" name="Oval 71"/>
          <p:cNvSpPr/>
          <p:nvPr/>
        </p:nvSpPr>
        <p:spPr>
          <a:xfrm>
            <a:off x="7461504" y="7964424"/>
            <a:ext cx="310896" cy="310896"/>
          </a:xfrm>
          <a:prstGeom prst="ellipse">
            <a:avLst/>
          </a:prstGeom>
          <a:solidFill>
            <a:srgbClr val="176FAD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60120" y="11292840"/>
            <a:ext cx="8010144" cy="685800"/>
          </a:xfrm>
          <a:prstGeom prst="roundRect">
            <a:avLst/>
          </a:prstGeom>
          <a:solidFill>
            <a:srgbClr val="E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326B96"/>
                </a:solidFill>
                <a:latin typeface="PingFang SC"/>
              </a:defRPr>
            </a:pPr>
            <a:r>
              <a:t>高危人群应定期检测血糖，并在专业人员指导下改善饮食、运动与体重管理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